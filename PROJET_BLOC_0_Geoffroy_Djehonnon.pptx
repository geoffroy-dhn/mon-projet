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71" r:id="rId11"/>
    <p:sldId id="266" r:id="rId12"/>
    <p:sldId id="268" r:id="rId13"/>
    <p:sldId id="269" r:id="rId14"/>
    <p:sldId id="270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otre-nom/votre-proje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PROJET BLOC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1561" y="3657600"/>
            <a:ext cx="6480878" cy="13542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rPr dirty="0"/>
              <a:t>DJEHONNON </a:t>
            </a:r>
            <a:r>
              <a:rPr dirty="0" err="1"/>
              <a:t>Jésugnon</a:t>
            </a:r>
            <a:r>
              <a:rPr dirty="0"/>
              <a:t> Geoffroy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u="sng" dirty="0" err="1"/>
              <a:t>Filière</a:t>
            </a:r>
            <a:r>
              <a:rPr dirty="0"/>
              <a:t> : Génie </a:t>
            </a:r>
            <a:r>
              <a:rPr dirty="0" err="1"/>
              <a:t>logiciel</a:t>
            </a:r>
            <a:endParaRPr dirty="0"/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u="sng" dirty="0"/>
              <a:t>Date</a:t>
            </a:r>
            <a:r>
              <a:rPr dirty="0"/>
              <a:t> : 18 / 02 / 2026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 err="1"/>
              <a:t>Institut</a:t>
            </a:r>
            <a:r>
              <a:rPr dirty="0"/>
              <a:t> de Formation et de Recherche </a:t>
            </a:r>
            <a:r>
              <a:rPr dirty="0" err="1"/>
              <a:t>en</a:t>
            </a:r>
            <a:r>
              <a:rPr dirty="0"/>
              <a:t> Informatique (IFRI)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2040"/>
                </a:solidFill>
              </a:defRPr>
            </a:pPr>
            <a:r>
              <a:t>Vision globale de l’informatique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2893"/>
            <a:ext cx="8229600" cy="494447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b="1" dirty="0"/>
              <a:t>Définition de l’informatique</a:t>
            </a:r>
          </a:p>
          <a:p>
            <a:r>
              <a:rPr lang="fr-FR" sz="2800" b="1" dirty="0"/>
              <a:t>Étymologie :</a:t>
            </a:r>
            <a:r>
              <a:rPr lang="fr-FR" sz="2800" dirty="0"/>
              <a:t> Contraction des mots </a:t>
            </a:r>
            <a:r>
              <a:rPr lang="fr-FR" sz="2800" b="1" dirty="0"/>
              <a:t>"Information"</a:t>
            </a:r>
            <a:r>
              <a:rPr lang="fr-FR" sz="2800" dirty="0"/>
              <a:t> et </a:t>
            </a:r>
            <a:r>
              <a:rPr lang="fr-FR" sz="2800" b="1" dirty="0"/>
              <a:t>"Automatique"</a:t>
            </a:r>
            <a:r>
              <a:rPr lang="fr-FR" sz="2800" dirty="0"/>
              <a:t>.</a:t>
            </a:r>
          </a:p>
          <a:p>
            <a:r>
              <a:rPr lang="fr-FR" sz="2800" b="1" dirty="0"/>
              <a:t>Concept clé :</a:t>
            </a:r>
            <a:r>
              <a:rPr lang="fr-FR" sz="2800" dirty="0"/>
              <a:t> C'est la science du traitement rationnel et automatique de l'information à l'aide de machines (ordinateurs, serveurs, smartphones).</a:t>
            </a:r>
          </a:p>
          <a:p>
            <a:r>
              <a:rPr lang="fr-FR" sz="2800" b="1" dirty="0"/>
              <a:t>Le rôle :</a:t>
            </a:r>
            <a:r>
              <a:rPr lang="fr-FR" sz="2800" dirty="0"/>
              <a:t> Elle sert à stocker, organiser, transformer et transmettre des données pour résoudre des problèmes humains.</a:t>
            </a:r>
          </a:p>
          <a:p>
            <a:pPr>
              <a:defRPr sz="2000"/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2040"/>
                </a:solidFill>
              </a:defRPr>
            </a:pPr>
            <a:r>
              <a:t>Différences fondamentales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b="1" dirty="0"/>
              <a:t>Différence entre informatique, bureautique et simple usage</a:t>
            </a:r>
          </a:p>
          <a:p>
            <a:r>
              <a:rPr lang="fr-FR" b="1" dirty="0"/>
              <a:t>Simple usage :</a:t>
            </a:r>
            <a:r>
              <a:rPr lang="fr-FR" dirty="0"/>
              <a:t> C'est être un "consommateur". Utiliser une application (Instagram, Netflix) sans comprendre comment elle fonctionne.</a:t>
            </a:r>
          </a:p>
          <a:p>
            <a:r>
              <a:rPr lang="fr-FR" b="1" dirty="0"/>
              <a:t>Bureautique :</a:t>
            </a:r>
            <a:r>
              <a:rPr lang="fr-FR" dirty="0"/>
              <a:t> C'est une spécialisation de l'informatique liée au travail de bureau. Utiliser des outils pour produire des documents (Word), des calculs (Excel) ou des présentations (PowerPoint).</a:t>
            </a:r>
          </a:p>
          <a:p>
            <a:r>
              <a:rPr lang="fr-FR" b="1" dirty="0"/>
              <a:t>Informatique (Sens large) :</a:t>
            </a:r>
            <a:r>
              <a:rPr lang="fr-FR" dirty="0"/>
              <a:t> C'est la "cuisine". C'est comprendre la création des outils, la logique des programmes, la gestion des serveurs et la structure des données.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2040"/>
                </a:solidFill>
              </a:defRPr>
            </a:pPr>
            <a:r>
              <a:rPr dirty="0"/>
              <a:t>Grands </a:t>
            </a:r>
            <a:r>
              <a:rPr dirty="0" err="1"/>
              <a:t>domaines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6092"/>
            <a:ext cx="8229600" cy="4860071"/>
          </a:xfrm>
        </p:spPr>
        <p:txBody>
          <a:bodyPr>
            <a:normAutofit fontScale="85000" lnSpcReduction="20000"/>
          </a:bodyPr>
          <a:lstStyle/>
          <a:p>
            <a:r>
              <a:rPr lang="fr-FR" b="1" dirty="0"/>
              <a:t>Web :</a:t>
            </a:r>
            <a:r>
              <a:rPr lang="fr-FR" dirty="0"/>
              <a:t> Création de sites et d'applications accessibles via un navigateur (</a:t>
            </a:r>
            <a:r>
              <a:rPr lang="fr-FR" dirty="0" err="1"/>
              <a:t>Front-end</a:t>
            </a:r>
            <a:r>
              <a:rPr lang="fr-FR" dirty="0"/>
              <a:t> : ce qu'on voit ; </a:t>
            </a:r>
            <a:r>
              <a:rPr lang="fr-FR" dirty="0" err="1"/>
              <a:t>Back-end</a:t>
            </a:r>
            <a:r>
              <a:rPr lang="fr-FR" dirty="0"/>
              <a:t> : la logique cachée).</a:t>
            </a:r>
          </a:p>
          <a:p>
            <a:r>
              <a:rPr lang="fr-FR" b="1" dirty="0"/>
              <a:t>Logiciel :</a:t>
            </a:r>
            <a:r>
              <a:rPr lang="fr-FR" dirty="0"/>
              <a:t> Développement d'applications natives pour PC ou mobiles (ex: Photoshop, WhatsApp).</a:t>
            </a:r>
          </a:p>
          <a:p>
            <a:r>
              <a:rPr lang="fr-FR" b="1" dirty="0"/>
              <a:t>Intelligence Artificielle (IA) :</a:t>
            </a:r>
            <a:r>
              <a:rPr lang="fr-FR" dirty="0"/>
              <a:t> Création de systèmes capables de simuler l'intelligence humaine (apprentissage, reconnaissance visuelle).</a:t>
            </a:r>
          </a:p>
          <a:p>
            <a:r>
              <a:rPr lang="fr-FR" b="1" dirty="0"/>
              <a:t>Réseaux :</a:t>
            </a:r>
            <a:r>
              <a:rPr lang="fr-FR" dirty="0"/>
              <a:t> L'infrastructure qui permet aux machines de communiquer entre elles (Internet, Wi-Fi).</a:t>
            </a:r>
          </a:p>
          <a:p>
            <a:r>
              <a:rPr lang="fr-FR" b="1" dirty="0"/>
              <a:t>Cybersécurité :</a:t>
            </a:r>
            <a:r>
              <a:rPr lang="fr-FR" dirty="0"/>
              <a:t> La protection des systèmes et des données contre les attaques malveillantes.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0" y="6400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F2040"/>
                </a:solidFill>
              </a:defRPr>
            </a:pPr>
            <a:r>
              <a:t>Carte mentale des domaines</a:t>
            </a:r>
          </a:p>
        </p:txBody>
      </p:sp>
      <p:sp>
        <p:nvSpPr>
          <p:cNvPr id="4" name="Oval 3"/>
          <p:cNvSpPr/>
          <p:nvPr/>
        </p:nvSpPr>
        <p:spPr>
          <a:xfrm>
            <a:off x="3327010" y="2983230"/>
            <a:ext cx="2489980" cy="1097280"/>
          </a:xfrm>
          <a:prstGeom prst="ellipse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rPr dirty="0"/>
              <a:t>INFORMATIQUE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185" y="2870688"/>
            <a:ext cx="2103120" cy="914400"/>
          </a:xfrm>
          <a:prstGeom prst="roundRect">
            <a:avLst/>
          </a:prstGeom>
          <a:solidFill>
            <a:srgbClr val="C8E1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3520440" y="1298184"/>
            <a:ext cx="2103120" cy="914400"/>
          </a:xfrm>
          <a:prstGeom prst="roundRect">
            <a:avLst/>
          </a:prstGeom>
          <a:solidFill>
            <a:srgbClr val="C8E1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Logiciel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870688"/>
            <a:ext cx="2103120" cy="914400"/>
          </a:xfrm>
          <a:prstGeom prst="roundRect">
            <a:avLst/>
          </a:prstGeom>
          <a:solidFill>
            <a:srgbClr val="C8E1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IA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1828800" y="4939518"/>
            <a:ext cx="2103120" cy="914400"/>
          </a:xfrm>
          <a:prstGeom prst="roundRect">
            <a:avLst/>
          </a:prstGeom>
          <a:solidFill>
            <a:srgbClr val="C8E1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Réseaux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389038" y="4846320"/>
            <a:ext cx="2103120" cy="914400"/>
          </a:xfrm>
          <a:prstGeom prst="roundRect">
            <a:avLst/>
          </a:prstGeom>
          <a:solidFill>
            <a:srgbClr val="C8E1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Cybersécurité</a:t>
            </a:r>
            <a:endParaRPr dirty="0"/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0" y="0"/>
            <a:ext cx="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211025B0-BA0D-906C-7278-181588FF33EB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>
            <a:off x="4572000" y="2212584"/>
            <a:ext cx="0" cy="7706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4ED47B2A-57BA-E402-98E0-46F8FE4F1894}"/>
              </a:ext>
            </a:extLst>
          </p:cNvPr>
          <p:cNvCxnSpPr>
            <a:cxnSpLocks/>
            <a:stCxn id="4" idx="6"/>
            <a:endCxn id="7" idx="1"/>
          </p:cNvCxnSpPr>
          <p:nvPr/>
        </p:nvCxnSpPr>
        <p:spPr>
          <a:xfrm flipV="1">
            <a:off x="5816990" y="3327888"/>
            <a:ext cx="1041010" cy="203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D286A4B3-6E61-2AF2-E8F6-9A0048B01658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>
            <a:off x="2349305" y="3327888"/>
            <a:ext cx="977705" cy="203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A32BDD32-478D-7AA1-1665-1A267653B6D6}"/>
              </a:ext>
            </a:extLst>
          </p:cNvPr>
          <p:cNvCxnSpPr>
            <a:cxnSpLocks/>
            <a:stCxn id="8" idx="0"/>
            <a:endCxn id="4" idx="3"/>
          </p:cNvCxnSpPr>
          <p:nvPr/>
        </p:nvCxnSpPr>
        <p:spPr>
          <a:xfrm flipV="1">
            <a:off x="2880360" y="3919817"/>
            <a:ext cx="811299" cy="10197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F72A90CC-AEDB-A4CC-240A-E526822BE3E5}"/>
              </a:ext>
            </a:extLst>
          </p:cNvPr>
          <p:cNvCxnSpPr>
            <a:cxnSpLocks/>
            <a:stCxn id="4" idx="5"/>
            <a:endCxn id="9" idx="0"/>
          </p:cNvCxnSpPr>
          <p:nvPr/>
        </p:nvCxnSpPr>
        <p:spPr>
          <a:xfrm>
            <a:off x="5452341" y="3919817"/>
            <a:ext cx="988257" cy="9265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2040"/>
                </a:solidFill>
              </a:defRPr>
            </a:pPr>
            <a:r>
              <a:t>Pensée algorithmique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b="1" dirty="0"/>
              <a:t>Notion d’algorithme</a:t>
            </a:r>
          </a:p>
          <a:p>
            <a:pPr marL="0" indent="0">
              <a:buNone/>
            </a:pPr>
            <a:r>
              <a:rPr lang="fr-FR" dirty="0"/>
              <a:t>Un </a:t>
            </a:r>
            <a:r>
              <a:rPr lang="fr-FR" b="1" dirty="0"/>
              <a:t>algorithme</a:t>
            </a:r>
            <a:r>
              <a:rPr lang="fr-FR" dirty="0"/>
              <a:t> est une </a:t>
            </a:r>
            <a:r>
              <a:rPr lang="fr-FR" b="1" i="1" dirty="0"/>
              <a:t>suite d'instructions précises et ordonnées</a:t>
            </a:r>
            <a:r>
              <a:rPr lang="fr-FR" i="1" dirty="0"/>
              <a:t> </a:t>
            </a:r>
            <a:r>
              <a:rPr lang="fr-FR" dirty="0"/>
              <a:t>qui permet de résoudre un problème ou d'accomplir une tâche.</a:t>
            </a:r>
          </a:p>
          <a:p>
            <a:r>
              <a:rPr lang="fr-FR" b="1" i="1" dirty="0"/>
              <a:t>Analogie</a:t>
            </a:r>
            <a:r>
              <a:rPr lang="fr-FR" i="1" dirty="0"/>
              <a:t> :</a:t>
            </a:r>
            <a:r>
              <a:rPr lang="fr-FR" dirty="0"/>
              <a:t> Une recette de cuisine est un algorithme. Les ingrédients sont les données d'entrée, la cuisson est l'algorithme, et le plat est le résultat.</a:t>
            </a:r>
          </a:p>
          <a:p>
            <a:pPr>
              <a:defRPr sz="2000"/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54904D-12E6-03B3-6767-98F762D2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3A55-07C0-0B05-F5F4-2AE3EC346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2040"/>
                </a:solidFill>
              </a:defRPr>
            </a:pPr>
            <a:r>
              <a:t>Pensée algorithmique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C447F-6921-7B5A-1AC2-15B4C36DF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2000" b="1" dirty="0"/>
              <a:t>Problème 1 : Vérifier si un utilisateur est majeur</a:t>
            </a:r>
            <a:endParaRPr lang="fr-FR" sz="2000" dirty="0"/>
          </a:p>
          <a:p>
            <a:r>
              <a:rPr lang="fr-FR" sz="2000" b="1" dirty="0"/>
              <a:t>Raisonnement :</a:t>
            </a:r>
            <a:r>
              <a:rPr lang="fr-FR" sz="2000" dirty="0"/>
              <a:t> On demande l'âge. Si le chiffre est supérieur ou égal à 18, c'est bon. Sinon, c'est refusé.</a:t>
            </a:r>
          </a:p>
          <a:p>
            <a:r>
              <a:rPr lang="fr-FR" sz="2000" b="1" dirty="0"/>
              <a:t>Pseudo-code :</a:t>
            </a:r>
            <a:endParaRPr lang="fr-FR" sz="2000" dirty="0"/>
          </a:p>
          <a:p>
            <a:pPr marL="0" indent="0">
              <a:buNone/>
              <a:defRPr sz="2000"/>
            </a:pPr>
            <a:r>
              <a:rPr lang="fr-FR" dirty="0"/>
              <a:t>  DÉBUT</a:t>
            </a:r>
          </a:p>
          <a:p>
            <a:pPr marL="0" indent="0">
              <a:buNone/>
              <a:defRPr sz="2000"/>
            </a:pPr>
            <a:r>
              <a:rPr lang="fr-FR" dirty="0"/>
              <a:t> 	 AFFICHER ("Quel est votre âge ? ");</a:t>
            </a:r>
          </a:p>
          <a:p>
            <a:pPr marL="0" indent="0">
              <a:buNone/>
              <a:defRPr sz="2000"/>
            </a:pPr>
            <a:r>
              <a:rPr lang="fr-FR" dirty="0"/>
              <a:t> 	 LIRE (</a:t>
            </a:r>
            <a:r>
              <a:rPr lang="fr-FR" dirty="0" err="1"/>
              <a:t>age_utilisateur</a:t>
            </a:r>
            <a:r>
              <a:rPr lang="fr-FR" dirty="0"/>
              <a:t>);</a:t>
            </a:r>
          </a:p>
          <a:p>
            <a:pPr marL="0" indent="0">
              <a:buNone/>
              <a:defRPr sz="2000"/>
            </a:pPr>
            <a:r>
              <a:rPr lang="fr-FR" dirty="0"/>
              <a:t> 	 SI (</a:t>
            </a:r>
            <a:r>
              <a:rPr lang="fr-FR" dirty="0" err="1"/>
              <a:t>age_utilisateur</a:t>
            </a:r>
            <a:r>
              <a:rPr lang="fr-FR" dirty="0"/>
              <a:t> &gt;= 18) ALORS</a:t>
            </a:r>
          </a:p>
          <a:p>
            <a:pPr marL="0" indent="0">
              <a:buNone/>
              <a:defRPr sz="2000"/>
            </a:pPr>
            <a:r>
              <a:rPr lang="fr-FR" dirty="0"/>
              <a:t>  		  AFFICHER ("Accès autorisé");</a:t>
            </a:r>
          </a:p>
          <a:p>
            <a:pPr marL="0" indent="0">
              <a:buNone/>
              <a:defRPr sz="2000"/>
            </a:pPr>
            <a:r>
              <a:rPr lang="fr-FR" dirty="0"/>
              <a:t> 		 SINON</a:t>
            </a:r>
          </a:p>
          <a:p>
            <a:pPr marL="0" indent="0">
              <a:buNone/>
              <a:defRPr sz="2000"/>
            </a:pPr>
            <a:r>
              <a:rPr lang="fr-FR" dirty="0"/>
              <a:t>   		  AFFICHER ("Accès refusé");</a:t>
            </a:r>
          </a:p>
          <a:p>
            <a:pPr marL="0" indent="0">
              <a:buNone/>
              <a:defRPr sz="2000"/>
            </a:pPr>
            <a:r>
              <a:rPr lang="fr-FR" dirty="0"/>
              <a:t> 	 FIN SI</a:t>
            </a:r>
          </a:p>
          <a:p>
            <a:pPr marL="0" indent="0">
              <a:buNone/>
              <a:defRPr sz="2000"/>
            </a:pPr>
            <a:r>
              <a:rPr lang="fr-FR" dirty="0"/>
              <a:t>  FIN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E057E3-3356-9F85-3C46-0FF5013137C9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39922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5351D-8272-176F-0923-5CA56A7B2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106C5-0E24-5037-8B4A-26029D78D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2040"/>
                </a:solidFill>
              </a:defRPr>
            </a:pPr>
            <a:r>
              <a:rPr dirty="0"/>
              <a:t>Pensée </a:t>
            </a:r>
            <a:r>
              <a:rPr dirty="0" err="1"/>
              <a:t>algorithmique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8847A-275A-3E64-5D30-C4912DBBD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b="1" dirty="0"/>
              <a:t>Problème 2 : Calculer la moyenne de deux notes</a:t>
            </a:r>
            <a:endParaRPr lang="fr-FR" sz="2000" dirty="0"/>
          </a:p>
          <a:p>
            <a:r>
              <a:rPr lang="fr-FR" sz="2000" b="1" dirty="0"/>
              <a:t>Raisonnement :</a:t>
            </a:r>
            <a:r>
              <a:rPr lang="fr-FR" sz="2000" dirty="0"/>
              <a:t> Additionner les deux nombres, puis diviser le total par 2.</a:t>
            </a:r>
          </a:p>
          <a:p>
            <a:r>
              <a:rPr lang="fr-FR" sz="2000" b="1" dirty="0"/>
              <a:t>Pseudo-code :</a:t>
            </a:r>
          </a:p>
          <a:p>
            <a:pPr marL="400050" lvl="1" indent="0">
              <a:buNone/>
            </a:pPr>
            <a:r>
              <a:rPr lang="fr-FR" sz="2000" dirty="0"/>
              <a:t>DÉBUT</a:t>
            </a:r>
          </a:p>
          <a:p>
            <a:pPr marL="400050" lvl="1" indent="0">
              <a:buNone/>
            </a:pPr>
            <a:r>
              <a:rPr lang="fr-FR" sz="2000" dirty="0"/>
              <a:t>  AFFICHER("Entrez deux nombres");</a:t>
            </a:r>
          </a:p>
          <a:p>
            <a:pPr marL="400050" lvl="1" indent="0">
              <a:buNone/>
            </a:pPr>
            <a:r>
              <a:rPr lang="fr-FR" sz="2000" dirty="0"/>
              <a:t>  LIRE (note1, note2);</a:t>
            </a:r>
          </a:p>
          <a:p>
            <a:pPr marL="400050" lvl="1" indent="0">
              <a:buNone/>
            </a:pPr>
            <a:r>
              <a:rPr lang="fr-FR" sz="2000" dirty="0"/>
              <a:t>  somme = note1 + note2;</a:t>
            </a:r>
          </a:p>
          <a:p>
            <a:pPr marL="400050" lvl="1" indent="0">
              <a:buNone/>
            </a:pPr>
            <a:r>
              <a:rPr lang="fr-FR" sz="2000" dirty="0"/>
              <a:t>  </a:t>
            </a:r>
            <a:r>
              <a:rPr lang="fr-FR" sz="2000" dirty="0" err="1"/>
              <a:t>resultat</a:t>
            </a:r>
            <a:r>
              <a:rPr lang="fr-FR" sz="2000" dirty="0"/>
              <a:t> = somme / 2;</a:t>
            </a:r>
          </a:p>
          <a:p>
            <a:pPr marL="400050" lvl="1" indent="0">
              <a:buNone/>
            </a:pPr>
            <a:r>
              <a:rPr lang="fr-FR" sz="2000" dirty="0"/>
              <a:t>  AFFICHER (</a:t>
            </a:r>
            <a:r>
              <a:rPr lang="fr-FR" sz="2000" dirty="0" err="1"/>
              <a:t>resultat</a:t>
            </a:r>
            <a:r>
              <a:rPr lang="fr-FR" sz="2000" dirty="0"/>
              <a:t>);</a:t>
            </a:r>
          </a:p>
          <a:p>
            <a:pPr marL="400050" lvl="1" indent="0">
              <a:buNone/>
            </a:pPr>
            <a:r>
              <a:rPr lang="fr-FR" sz="2000" dirty="0"/>
              <a:t>FIN</a:t>
            </a:r>
          </a:p>
          <a:p>
            <a:pPr>
              <a:defRPr sz="2000"/>
            </a:pP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F005FF-F448-5BE6-FAE9-0AFF57C2E2FD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56257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2040"/>
                </a:solidFill>
              </a:defRPr>
            </a:pPr>
            <a:r>
              <a:rPr lang="fr-FR" dirty="0"/>
              <a:t>Environnement informatique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99B5539-E95E-C4DF-5119-18D2AD2331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7750" y="1315477"/>
            <a:ext cx="8674362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Système d’exploitation (OS) utilisé: </a:t>
            </a:r>
            <a:r>
              <a:rPr kumimoji="0" lang="fr-FR" altLang="fr-F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Windows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Rôle :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C'est le chef d'orchestre. Il gère le matériel (clavier, écran) et les logiciels.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Organisation des dossiers du projet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Une bonne structure est cruciale pour ne pas se perdre:</a:t>
            </a:r>
            <a:endParaRPr lang="fr-FR" altLang="fr-FR" sz="20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fr-FR" altLang="fr-FR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PROJET_INFO/ </a:t>
            </a: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fr-FR" altLang="fr-FR" sz="1800" b="1" i="1" dirty="0"/>
              <a:t>Cahier Des Charges – Projet Bloc 0.pdf </a:t>
            </a:r>
            <a:r>
              <a:rPr kumimoji="0" lang="fr-FR" altLang="fr-FR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fr-FR" altLang="fr-FR" sz="1800" b="1" i="1" dirty="0"/>
              <a:t>PROJET_BLOC_0_Geoffroy_Djehonnon.pptx/</a:t>
            </a:r>
            <a:endParaRPr kumimoji="0" lang="fr-FR" altLang="fr-FR" sz="18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Commandes de base du terminal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 terminal permet de parler directement à l'ordinateur sans interface graphique.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ls (ou </a:t>
            </a:r>
            <a:r>
              <a:rPr kumimoji="0" lang="fr-FR" altLang="fr-FR" sz="1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</a:t>
            </a:r>
            <a:r>
              <a:rPr kumimoji="0" lang="fr-FR" altLang="fr-FR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sur Windows) :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Liste les fichiers présents dans le dossier actuel.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cd (Change Directory) :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Permet d'entrer dans un dossier (ex: cd documents).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mkdir</a:t>
            </a:r>
            <a:r>
              <a:rPr kumimoji="0" lang="fr-FR" altLang="fr-FR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fr-FR" altLang="fr-FR" sz="1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Make</a:t>
            </a:r>
            <a:r>
              <a:rPr kumimoji="0" lang="fr-FR" altLang="fr-FR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Directory) :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Crée un nouveau dossier.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Touch</a:t>
            </a:r>
            <a:r>
              <a:rPr kumimoji="0" lang="fr-FR" altLang="fr-FR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 type nul &gt;) :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Crée un fichier vide (ex: </a:t>
            </a:r>
            <a:r>
              <a:rPr kumimoji="0" lang="fr-FR" altLang="fr-F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touch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index.html).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E8C3A-CF8F-5388-4ADC-ED629AA25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E7E31-91EF-75AF-FA46-BF2C411BB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2040"/>
                </a:solidFill>
              </a:defRPr>
            </a:pPr>
            <a:r>
              <a:rPr lang="fr-FR" dirty="0"/>
              <a:t>Environnement informatique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1C29DB-B5AA-D328-1802-1E4BE0AFB1D4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87A423E-C073-85A6-304A-C084A37674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7750" y="3516079"/>
            <a:ext cx="588623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0F0B84B-9DBA-E680-7723-155A52A01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2" y="1223889"/>
            <a:ext cx="8574558" cy="535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51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F31FF-A953-855C-375F-785D150C4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322F7-E180-99A2-ED84-1C5AE2D78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904" y="274638"/>
            <a:ext cx="8229600" cy="1143000"/>
          </a:xfrm>
        </p:spPr>
        <p:txBody>
          <a:bodyPr/>
          <a:lstStyle/>
          <a:p>
            <a:pPr>
              <a:defRPr sz="3000" b="1">
                <a:solidFill>
                  <a:srgbClr val="0F2040"/>
                </a:solidFill>
              </a:defRPr>
            </a:pPr>
            <a:r>
              <a:rPr dirty="0"/>
              <a:t>Git et GitHub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430014-CCB5-55EC-55B3-144B2EC25B45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0C04A49-60D4-3049-256E-E0075DFD2F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4171" y="1075658"/>
            <a:ext cx="879565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Explication du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versionnement</a:t>
            </a: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 problème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Quand on travaille à plusieurs, on finit souvent avec des fichiers nommés </a:t>
            </a:r>
            <a:r>
              <a:rPr kumimoji="0" lang="fr-FR" altLang="fr-FR" sz="180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projet_final_V2_final_vrai.zip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 solution (Git)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C'est une "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machine à remonter le temps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". Il enregistre chaque modification. Si vous faites une erreur, vous pouvez revenir à la version d'hier en un clic.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Création d'un dépôt GitHub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GitHub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C'est un site web (un "cloud") qui héberge vos projets Git pour que tout le groupe puisse y accéder.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Dépôt (Repository)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C'est le dossier du projet en ligne.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Étapes principales (Le flux de travail)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fr-FR" altLang="fr-FR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git init :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"Réveille" Git dans votre dossier (crée le système de suivi).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fr-FR" altLang="fr-FR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git </a:t>
            </a:r>
            <a:r>
              <a:rPr kumimoji="0" lang="fr-FR" altLang="fr-FR" sz="1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add</a:t>
            </a:r>
            <a:r>
              <a:rPr kumimoji="0" lang="fr-FR" altLang="fr-FR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. :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Sélectionne tous les changements que vous voulez sauvegarder.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fr-FR" altLang="fr-FR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git commit -m "Message" :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Valide la sauvegarde avec un petit commentaire explicatif.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fr-FR" altLang="fr-FR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git push :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Envoie vos changements sur GitHub pour vos camarades.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Lien vers le dépôt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URL de </a:t>
            </a:r>
            <a:r>
              <a:rPr lang="fr-FR" altLang="fr-FR" sz="1800" i="1" dirty="0"/>
              <a:t>mon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dépôt: </a:t>
            </a:r>
            <a:r>
              <a:rPr kumimoji="0" lang="fr-FR" altLang="fr-FR" sz="180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  <a:hlinkClick r:id="rId2"/>
              </a:rPr>
              <a:t>https://github.com/votre-nom/votre-projet</a:t>
            </a:r>
            <a:endParaRPr kumimoji="0" lang="fr-FR" altLang="fr-FR" sz="18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541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2C528B-4D8C-22F9-3CBB-3BB5EA76E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1DE6A8-098E-13D7-A380-741954055BE9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3B5C03-3F06-3FB9-FC62-4A6726551AAA}"/>
              </a:ext>
            </a:extLst>
          </p:cNvPr>
          <p:cNvSpPr txBox="1"/>
          <p:nvPr/>
        </p:nvSpPr>
        <p:spPr>
          <a:xfrm>
            <a:off x="749508" y="766732"/>
            <a:ext cx="741733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      </a:t>
            </a:r>
            <a:r>
              <a:rPr lang="fr-FR" sz="3000" b="1" dirty="0">
                <a:solidFill>
                  <a:srgbClr val="0F2040"/>
                </a:solidFill>
                <a:latin typeface="+mj-lt"/>
                <a:ea typeface="+mj-ea"/>
                <a:cs typeface="+mj-cs"/>
              </a:rPr>
              <a:t>Conclusion</a:t>
            </a:r>
          </a:p>
          <a:p>
            <a:pPr algn="ctr"/>
            <a:endParaRPr lang="fr-FR" sz="3000" b="1" dirty="0">
              <a:solidFill>
                <a:srgbClr val="0F2040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b="1" dirty="0"/>
              <a:t>Ce que le groupe a appris </a:t>
            </a:r>
          </a:p>
          <a:p>
            <a:r>
              <a:rPr lang="fr-FR" sz="2000" dirty="0"/>
              <a:t>Le projet m’a permis de passer du statut de </a:t>
            </a:r>
            <a:r>
              <a:rPr lang="fr-FR" sz="2000" b="1" dirty="0"/>
              <a:t>consommateur</a:t>
            </a:r>
            <a:r>
              <a:rPr lang="fr-FR" sz="2000" dirty="0"/>
              <a:t> à celui d'</a:t>
            </a:r>
            <a:r>
              <a:rPr lang="fr-FR" sz="2000" b="1" dirty="0"/>
              <a:t>acteur</a:t>
            </a:r>
            <a:r>
              <a:rPr lang="fr-FR" sz="2000" dirty="0"/>
              <a:t> du numérique.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b="1" dirty="0"/>
              <a:t>La rigueur de la machine :</a:t>
            </a:r>
            <a:r>
              <a:rPr lang="fr-FR" sz="2000" dirty="0"/>
              <a:t> j’ai compris qu'un ordinateur ne "devine" rien ; il n'exécute que des instructions strictement logiques. Une simple erreur de syntaxe ou d'indentation bloque tout le processus.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b="1" dirty="0"/>
              <a:t>L'importance de l'abstraction :</a:t>
            </a:r>
            <a:r>
              <a:rPr lang="fr-FR" sz="2000" dirty="0"/>
              <a:t> Apprendre à modéliser un problème (via le pseudo-code) avant de sauter sur le clavier est une étape cruciale pour éviter les erreurs de logique.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b="1" dirty="0"/>
              <a:t>La puissance de l'écosystème :</a:t>
            </a:r>
            <a:r>
              <a:rPr lang="fr-FR" sz="2000" dirty="0"/>
              <a:t> L'informatique n'est pas qu'un écran noir avec du code, c'est un ensemble vaste (IA, Réseaux, Web) qui interconnecte le monde entier.</a:t>
            </a:r>
          </a:p>
          <a:p>
            <a:pPr algn="ctr">
              <a:defRPr sz="4000" b="1">
                <a:solidFill>
                  <a:srgbClr val="0F2040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1984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9F646F-EB7F-D268-90C9-FD84F8F96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CF41CC-0C79-DD7F-13E2-CA5C3E655996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F72E9B-A725-2B40-B2E0-0BDC8FAB51BE}"/>
              </a:ext>
            </a:extLst>
          </p:cNvPr>
          <p:cNvSpPr txBox="1"/>
          <p:nvPr/>
        </p:nvSpPr>
        <p:spPr>
          <a:xfrm>
            <a:off x="749508" y="766732"/>
            <a:ext cx="741733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      </a:t>
            </a:r>
            <a:r>
              <a:rPr lang="fr-FR" sz="3000" b="1" dirty="0">
                <a:solidFill>
                  <a:srgbClr val="0F2040"/>
                </a:solidFill>
                <a:latin typeface="+mj-lt"/>
                <a:ea typeface="+mj-ea"/>
                <a:cs typeface="+mj-cs"/>
              </a:rPr>
              <a:t>Conclusion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b="1" dirty="0"/>
              <a:t>Compétences acquises</a:t>
            </a:r>
          </a:p>
          <a:p>
            <a:r>
              <a:rPr lang="fr-FR" sz="2000" dirty="0"/>
              <a:t>Ce Bloc 0 a posé les "briques" fondamentales de mon profil technique: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b="1" dirty="0"/>
              <a:t>Compétence Algorithmique :</a:t>
            </a:r>
            <a:r>
              <a:rPr lang="fr-FR" sz="2000" dirty="0"/>
              <a:t> Capacité à décomposer un problème complexe en une suite d'étapes simples et logiques.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b="1" dirty="0"/>
              <a:t>Maîtrise de l'environnement technique :</a:t>
            </a:r>
            <a:r>
              <a:rPr lang="fr-FR" sz="2000" dirty="0"/>
              <a:t> Utilisation du </a:t>
            </a:r>
            <a:r>
              <a:rPr lang="fr-FR" sz="2000" b="1" dirty="0"/>
              <a:t>Terminal</a:t>
            </a:r>
            <a:r>
              <a:rPr lang="fr-FR" sz="2000" dirty="0"/>
              <a:t> (ligne de commande) pour naviguer et manipuler des fichiers, une compétence indispensable pour tout développeur professionnel.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b="1" dirty="0"/>
              <a:t>Collaboration via le </a:t>
            </a:r>
            <a:r>
              <a:rPr lang="fr-FR" sz="2000" b="1" dirty="0" err="1"/>
              <a:t>Versionnement</a:t>
            </a:r>
            <a:r>
              <a:rPr lang="fr-FR" sz="2000" b="1" dirty="0"/>
              <a:t> :</a:t>
            </a:r>
            <a:r>
              <a:rPr lang="fr-FR" sz="2000" dirty="0"/>
              <a:t> Initiation à </a:t>
            </a:r>
            <a:r>
              <a:rPr lang="fr-FR" sz="2000" b="1" dirty="0"/>
              <a:t>Git et GitHub</a:t>
            </a:r>
            <a:r>
              <a:rPr lang="fr-FR" sz="2000" dirty="0"/>
              <a:t>, nous permettant de travailler en équipe sur un même projet sans écraser le travail des autres et en gardant un historique complet.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b="1" dirty="0"/>
              <a:t>Organisation structurée :</a:t>
            </a:r>
            <a:r>
              <a:rPr lang="fr-FR" sz="2000" dirty="0"/>
              <a:t> Gestion rigoureuse de l'arborescence des fichiers et des dossiers.</a:t>
            </a:r>
          </a:p>
          <a:p>
            <a:r>
              <a:rPr lang="fr-FR" sz="2000" dirty="0"/>
              <a:t>J’ai été confrontés à </a:t>
            </a:r>
            <a:r>
              <a:rPr lang="fr-FR" sz="2000" b="1" dirty="0"/>
              <a:t>la gestion des droits d'accès sur GitHub</a:t>
            </a:r>
            <a:r>
              <a:rPr lang="fr-FR" sz="2000" dirty="0"/>
              <a:t>. Cet incident nous a permis de comprendre concrètement le rôle d'administrateur de dépôt et l'importance de la validation des invitations pour sécuriser un projet collaboratif.</a:t>
            </a:r>
          </a:p>
          <a:p>
            <a:pPr algn="ctr">
              <a:defRPr sz="4000" b="1">
                <a:solidFill>
                  <a:srgbClr val="0F2040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8879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760AE-3087-1889-0517-0092D54C4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1636DA-09FE-F250-8F52-1A379F28B43D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27297-A313-1AE3-EA65-991A223CBEE6}"/>
              </a:ext>
            </a:extLst>
          </p:cNvPr>
          <p:cNvSpPr txBox="1"/>
          <p:nvPr/>
        </p:nvSpPr>
        <p:spPr>
          <a:xfrm>
            <a:off x="749508" y="766732"/>
            <a:ext cx="741733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      </a:t>
            </a:r>
            <a:r>
              <a:rPr lang="fr-FR" sz="3000" b="1" dirty="0">
                <a:solidFill>
                  <a:srgbClr val="0F2040"/>
                </a:solidFill>
                <a:latin typeface="+mj-lt"/>
                <a:ea typeface="+mj-ea"/>
                <a:cs typeface="+mj-cs"/>
              </a:rPr>
              <a:t>Conclusion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fr-FR" sz="2400" b="1" dirty="0"/>
          </a:p>
          <a:p>
            <a:pPr algn="ctr">
              <a:defRPr sz="4000" b="1">
                <a:solidFill>
                  <a:srgbClr val="0F2040"/>
                </a:solidFill>
              </a:defRPr>
            </a:pP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F290E4-2C16-63C7-5DF7-DFA732DBB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" y="1563383"/>
            <a:ext cx="8778240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Lien avec le développement web à venir (Bloc 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 Bloc 0 est la fondation directe sur laquelle va s'appuyer le Bloc 1 (HTML/CSS/JavaScript)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Logique de programmation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 pseudo-code que nous avons écrit est l'ancêtre direct du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JavaScript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Les conditions</a:t>
            </a:r>
            <a:r>
              <a:rPr kumimoji="0" lang="fr-FR" altLang="fr-F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(SI... ALORS)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et les variables seront les moteurs de nos futurs sites web interactifs.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Infrastructure Git/GitHub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Dans le Bloc 1, nous utiliserons GitHub non plus pour un PowerPoint, mais pour héberger nos sites web et collaborer sur du code réel en temps réel.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Structure et Rigueur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L'organisation des dossiers apprise ici est exactement la même que celle d'un projet web (où l'on sépare les images, le style CSS et les fichiers HTML).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Navigation Terminal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nombreux outils de développement web (comme les serveurs locaux ou les outils de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build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se lancent exclusivement via les commandes apprises dans la Partie «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Environnement informatique 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050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265468-D1BC-2F55-3EB6-2FB6FDD3A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DCF427-79BA-1243-9F26-5F2F43A6E688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9E270-1228-FDF5-0F00-97F795FE61A4}"/>
              </a:ext>
            </a:extLst>
          </p:cNvPr>
          <p:cNvSpPr txBox="1"/>
          <p:nvPr/>
        </p:nvSpPr>
        <p:spPr>
          <a:xfrm>
            <a:off x="1638088" y="2743200"/>
            <a:ext cx="5867825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F2040"/>
                </a:solidFill>
              </a:defRPr>
            </a:pPr>
            <a:r>
              <a:rPr dirty="0"/>
              <a:t>Merci pour </a:t>
            </a:r>
            <a:r>
              <a:rPr dirty="0" err="1"/>
              <a:t>votre</a:t>
            </a:r>
            <a:r>
              <a:rPr dirty="0"/>
              <a:t> attention</a:t>
            </a:r>
          </a:p>
          <a:p>
            <a:pPr algn="ctr">
              <a:defRPr sz="2400"/>
            </a:pPr>
            <a:r>
              <a:rPr b="1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712004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1313</Words>
  <Application>Microsoft Office PowerPoint</Application>
  <PresentationFormat>Affichage à l'écran (4:3)</PresentationFormat>
  <Paragraphs>118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Agency FB</vt:lpstr>
      <vt:lpstr>Arial</vt:lpstr>
      <vt:lpstr>Calibri</vt:lpstr>
      <vt:lpstr>Courier New</vt:lpstr>
      <vt:lpstr>Wingdings</vt:lpstr>
      <vt:lpstr>Office Theme</vt:lpstr>
      <vt:lpstr>Présentation PowerPoint</vt:lpstr>
      <vt:lpstr>Vision globale de l’informatique</vt:lpstr>
      <vt:lpstr>Différences fondamentales</vt:lpstr>
      <vt:lpstr>Grands domaines</vt:lpstr>
      <vt:lpstr>Présentation PowerPoint</vt:lpstr>
      <vt:lpstr>Pensée algorithmique</vt:lpstr>
      <vt:lpstr>Pensée algorithmique</vt:lpstr>
      <vt:lpstr>Pensée algorithmique</vt:lpstr>
      <vt:lpstr>Environnement informatique</vt:lpstr>
      <vt:lpstr>Environnement informatique</vt:lpstr>
      <vt:lpstr>Git et GitHub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CCG</dc:creator>
  <cp:keywords/>
  <dc:description>generated using python-pptx</dc:description>
  <cp:lastModifiedBy>DJEHONNON Geoffroy</cp:lastModifiedBy>
  <cp:revision>19</cp:revision>
  <dcterms:created xsi:type="dcterms:W3CDTF">2013-01-27T09:14:16Z</dcterms:created>
  <dcterms:modified xsi:type="dcterms:W3CDTF">2026-02-19T08:41:50Z</dcterms:modified>
  <cp:category/>
</cp:coreProperties>
</file>